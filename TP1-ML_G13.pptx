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DODQDy8LLphtJCvCYbbDstZpn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E70FB7-F6A3-4361-98B8-C665A8BC38D7}">
  <a:tblStyle styleId="{9EE70FB7-F6A3-4361-98B8-C665A8BC38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RMSE por modelo (train vs. validación)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train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Lineal</c:v>
                  </c:pt>
                  <c:pt idx="1">
                    <c:v>Poly g2</c:v>
                  </c:pt>
                  <c:pt idx="2">
                    <c:v>Poly g3</c:v>
                  </c:pt>
                  <c:pt idx="3">
                    <c:v>Lasso α=1</c:v>
                  </c:pt>
                  <c:pt idx="4">
                    <c:v>Lasso α=10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101.86</c:v>
                </c:pt>
                <c:pt idx="1">
                  <c:v>100.64</c:v>
                </c:pt>
                <c:pt idx="2">
                  <c:v>98.58</c:v>
                </c:pt>
                <c:pt idx="3">
                  <c:v>104.43</c:v>
                </c:pt>
                <c:pt idx="4">
                  <c:v>153.96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validación</c:v>
                </c:pt>
              </c:strCache>
            </c:strRef>
          </c:tx>
          <c:spPr>
            <a:solidFill>
              <a:srgbClr val="5FB4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Lineal</c:v>
                  </c:pt>
                  <c:pt idx="1">
                    <c:v>Poly g2</c:v>
                  </c:pt>
                  <c:pt idx="2">
                    <c:v>Poly g3</c:v>
                  </c:pt>
                  <c:pt idx="3">
                    <c:v>Lasso α=1</c:v>
                  </c:pt>
                  <c:pt idx="4">
                    <c:v>Lasso α=10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102.39</c:v>
                </c:pt>
                <c:pt idx="1">
                  <c:v>101.26</c:v>
                </c:pt>
                <c:pt idx="2">
                  <c:v>99.35</c:v>
                </c:pt>
                <c:pt idx="3">
                  <c:v>104.83</c:v>
                </c:pt>
                <c:pt idx="4">
                  <c:v>154.05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161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E3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1617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1617A"/>
                    </a:solidFill>
                    <a:latin typeface="Arial"/>
                  </a:rPr>
                  <a:t>RMSE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161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473965" y="3350325"/>
            <a:ext cx="2743200" cy="2743200"/>
          </a:xfrm>
          <a:prstGeom prst="ellipse">
            <a:avLst/>
          </a:prstGeom>
          <a:solidFill>
            <a:srgbClr val="1C7293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B49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49C"/>
                </a:solidFill>
                <a:latin typeface="Calibri"/>
                <a:ea typeface="Calibri"/>
                <a:cs typeface="Calibri"/>
                <a:sym typeface="Calibri"/>
              </a:rPr>
              <a:t>APRENDIZAJE AUTOMÁTICO · 2026 Q2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1965960"/>
            <a:ext cx="98755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TP1: Regresión e introducción 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 evaluación de modelos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70332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Predicción de demanda horaria de bicicletas compartidas</a:t>
            </a:r>
            <a:r>
              <a:rPr i="1" lang="en-US" sz="1600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1" lang="en-US" sz="16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 Bike Sharing Dataset (UCI)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822960" y="457200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822960" y="480060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B49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49C"/>
                </a:solidFill>
                <a:latin typeface="Calibri"/>
                <a:ea typeface="Calibri"/>
                <a:cs typeface="Calibri"/>
                <a:sym typeface="Calibri"/>
              </a:rPr>
              <a:t>Target: </a:t>
            </a:r>
            <a:r>
              <a:rPr b="0" i="0" lang="en-US" sz="13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cnt (bicis/hora)      </a:t>
            </a:r>
            <a:r>
              <a:rPr b="1" i="0" lang="en-US" sz="1300" u="none" cap="none" strike="noStrike">
                <a:solidFill>
                  <a:srgbClr val="5FB49C"/>
                </a:solidFill>
                <a:latin typeface="Calibri"/>
                <a:ea typeface="Calibri"/>
                <a:cs typeface="Calibri"/>
                <a:sym typeface="Calibri"/>
              </a:rPr>
              <a:t>Validación: </a:t>
            </a:r>
            <a:r>
              <a:rPr b="0" i="0" lang="en-US" sz="13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K-Fold, k=5      </a:t>
            </a:r>
            <a:r>
              <a:rPr b="1" i="0" lang="en-US" sz="1300" u="none" cap="none" strike="noStrike">
                <a:solidFill>
                  <a:srgbClr val="5FB49C"/>
                </a:solidFill>
                <a:latin typeface="Calibri"/>
                <a:ea typeface="Calibri"/>
                <a:cs typeface="Calibri"/>
                <a:sym typeface="Calibri"/>
              </a:rPr>
              <a:t>Métrica: </a:t>
            </a:r>
            <a:r>
              <a:rPr b="0" i="0" lang="en-US" sz="13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894275" y="4038075"/>
            <a:ext cx="1902600" cy="13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Grupo 13:</a:t>
            </a:r>
            <a:endParaRPr b="1" sz="1600">
              <a:solidFill>
                <a:srgbClr val="C9D9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Sofía Alfie</a:t>
            </a:r>
            <a:endParaRPr sz="1600">
              <a:solidFill>
                <a:srgbClr val="C9D9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Augusto Frate</a:t>
            </a:r>
            <a:br>
              <a:rPr lang="en-US" sz="1600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Facundo Juli</a:t>
            </a:r>
            <a:endParaRPr sz="1600">
              <a:solidFill>
                <a:srgbClr val="C9D9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El problema y el flujo de trabajo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b="0" i="0" lang="en-US" sz="15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predecir </a:t>
            </a:r>
            <a:r>
              <a:rPr b="0" i="0" lang="en-US" sz="1500" u="none" cap="none" strike="noStrike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rPr>
              <a:t>cnt</a:t>
            </a:r>
            <a:r>
              <a:rPr b="0" i="0" lang="en-US" sz="15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 (bicicletas alquiladas por hora) a partir de variables climáticas y de calendario, usando modelos de regresión evaluados con validación cruzada.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2331720"/>
            <a:ext cx="1874520" cy="1417320"/>
          </a:xfrm>
          <a:prstGeom prst="roundRect">
            <a:avLst>
              <a:gd fmla="val 5161" name="adj"/>
            </a:avLst>
          </a:prstGeom>
          <a:solidFill>
            <a:srgbClr val="F4F8FA"/>
          </a:solidFill>
          <a:ln cap="flat" cmpd="sng" w="1905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58368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21792" y="2715768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Limpieza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21792" y="3063240"/>
            <a:ext cx="1728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categóricas · faltantes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+ outliers + escalado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2423160" y="304038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D5E3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" name="Google Shape;37;p2"/>
          <p:cNvSpPr/>
          <p:nvPr/>
        </p:nvSpPr>
        <p:spPr>
          <a:xfrm>
            <a:off x="2743200" y="2331720"/>
            <a:ext cx="1874520" cy="1417320"/>
          </a:xfrm>
          <a:prstGeom prst="roundRect">
            <a:avLst>
              <a:gd fmla="val 5161" name="adj"/>
            </a:avLst>
          </a:prstGeom>
          <a:solidFill>
            <a:srgbClr val="F4F8FA"/>
          </a:solidFill>
          <a:ln cap="flat" cmpd="sng" w="1905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2852928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816352" y="2715768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816352" y="3063240"/>
            <a:ext cx="1728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80% train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20% test (reservado)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2"/>
          <p:cNvCxnSpPr/>
          <p:nvPr/>
        </p:nvCxnSpPr>
        <p:spPr>
          <a:xfrm>
            <a:off x="4617720" y="304038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D5E3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" name="Google Shape;42;p2"/>
          <p:cNvSpPr/>
          <p:nvPr/>
        </p:nvSpPr>
        <p:spPr>
          <a:xfrm>
            <a:off x="4937760" y="2331720"/>
            <a:ext cx="1874520" cy="1417320"/>
          </a:xfrm>
          <a:prstGeom prst="roundRect">
            <a:avLst>
              <a:gd fmla="val 5161" name="adj"/>
            </a:avLst>
          </a:prstGeom>
          <a:solidFill>
            <a:srgbClr val="F4F8FA"/>
          </a:solidFill>
          <a:ln cap="flat" cmpd="sng" w="1905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047488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10912" y="2715768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K-Fold CV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010912" y="3063240"/>
            <a:ext cx="1728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k=5, sólo sobre train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RMSE train / 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6812280" y="304038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D5E3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" name="Google Shape;47;p2"/>
          <p:cNvSpPr/>
          <p:nvPr/>
        </p:nvSpPr>
        <p:spPr>
          <a:xfrm>
            <a:off x="7132320" y="2331720"/>
            <a:ext cx="1874520" cy="1417320"/>
          </a:xfrm>
          <a:prstGeom prst="roundRect">
            <a:avLst>
              <a:gd fmla="val 5161" name="adj"/>
            </a:avLst>
          </a:prstGeom>
          <a:solidFill>
            <a:srgbClr val="F4F8FA"/>
          </a:solidFill>
          <a:ln cap="flat" cmpd="sng" w="1905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242048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205472" y="2715768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205472" y="3063240"/>
            <a:ext cx="1728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lineal · polinómico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(g2, g3) · + Lasso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9006840" y="304038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D5E3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" name="Google Shape;52;p2"/>
          <p:cNvSpPr/>
          <p:nvPr/>
        </p:nvSpPr>
        <p:spPr>
          <a:xfrm>
            <a:off x="9326880" y="2331720"/>
            <a:ext cx="1874520" cy="1417320"/>
          </a:xfrm>
          <a:prstGeom prst="roundRect">
            <a:avLst>
              <a:gd fmla="val 5161" name="adj"/>
            </a:avLst>
          </a:prstGeom>
          <a:solidFill>
            <a:srgbClr val="1C7293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9436608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400032" y="2715768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Elegir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400032" y="3063240"/>
            <a:ext cx="1728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F3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3EF"/>
                </a:solidFill>
                <a:latin typeface="Calibri"/>
                <a:ea typeface="Calibri"/>
                <a:cs typeface="Calibri"/>
                <a:sym typeface="Calibri"/>
              </a:rPr>
              <a:t>menor RMSE 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F3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3EF"/>
                </a:solidFill>
                <a:latin typeface="Calibri"/>
                <a:ea typeface="Calibri"/>
                <a:cs typeface="Calibri"/>
                <a:sym typeface="Calibri"/>
              </a:rPr>
              <a:t>+ gap train/val chico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48640" y="4251960"/>
            <a:ext cx="2542032" cy="1234440"/>
          </a:xfrm>
          <a:prstGeom prst="rect">
            <a:avLst/>
          </a:prstGeom>
          <a:solidFill>
            <a:srgbClr val="F4F8FA"/>
          </a:solidFill>
          <a:ln cap="flat" cmpd="sng" w="1270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48640" y="4361688"/>
            <a:ext cx="2542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17.379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" y="5029200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registros horarios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273552" y="4251960"/>
            <a:ext cx="2542032" cy="1234440"/>
          </a:xfrm>
          <a:prstGeom prst="rect">
            <a:avLst/>
          </a:prstGeom>
          <a:solidFill>
            <a:srgbClr val="F4F8FA"/>
          </a:solidFill>
          <a:ln cap="flat" cmpd="sng" w="1270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3273552" y="4361688"/>
            <a:ext cx="2542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273552" y="5029200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variables predictoras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998464" y="4251960"/>
            <a:ext cx="2542032" cy="1234440"/>
          </a:xfrm>
          <a:prstGeom prst="rect">
            <a:avLst/>
          </a:prstGeom>
          <a:solidFill>
            <a:srgbClr val="F4F8FA"/>
          </a:solidFill>
          <a:ln cap="flat" cmpd="sng" w="1270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5998464" y="4361688"/>
            <a:ext cx="2542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8 + 4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998464" y="5029200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categóricas · numéricas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723376" y="4251960"/>
            <a:ext cx="2542032" cy="1234440"/>
          </a:xfrm>
          <a:prstGeom prst="rect">
            <a:avLst/>
          </a:prstGeom>
          <a:solidFill>
            <a:srgbClr val="F4F8FA"/>
          </a:solidFill>
          <a:ln cap="flat" cmpd="sng" w="1270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8723376" y="4361688"/>
            <a:ext cx="2542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8723376" y="5029200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valores faltantes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TP1 — Regresión y evaluación de modelos · Bike Sharing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 · LIMPIEZA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Decisiones antes de modelar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1417320"/>
            <a:ext cx="5349240" cy="1783080"/>
          </a:xfrm>
          <a:prstGeom prst="roundRect">
            <a:avLst>
              <a:gd fmla="val 3077" name="adj"/>
            </a:avLst>
          </a:prstGeom>
          <a:solidFill>
            <a:srgbClr val="F4F8FA"/>
          </a:solidFill>
          <a:ln cap="flat" cmpd="sng" w="1270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777240" y="1645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25880" y="161848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Variables categóricas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325880" y="1984248"/>
            <a:ext cx="4343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8 variables (season, yr, mnth, hr, holiday, weekday, workingday, weathersit) son etiquetas, no magnitudes → One-Hot Encoding.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263640" y="1417320"/>
            <a:ext cx="5349240" cy="1783080"/>
          </a:xfrm>
          <a:prstGeom prst="roundRect">
            <a:avLst>
              <a:gd fmla="val 3077" name="adj"/>
            </a:avLst>
          </a:prstGeom>
          <a:solidFill>
            <a:srgbClr val="F4F8FA"/>
          </a:solidFill>
          <a:ln cap="flat" cmpd="sng" w="1270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492240" y="164592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492240" y="1645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040880" y="161848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Valores faltantes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040880" y="1984248"/>
            <a:ext cx="4343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Verificado con isnull().sum(): 0 faltantes en todo el dataset. No hizo falta imputar.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40" y="3429000"/>
            <a:ext cx="5349240" cy="1783080"/>
          </a:xfrm>
          <a:prstGeom prst="roundRect">
            <a:avLst>
              <a:gd fmla="val 3077" name="adj"/>
            </a:avLst>
          </a:prstGeom>
          <a:solidFill>
            <a:srgbClr val="F4F8FA"/>
          </a:solidFill>
          <a:ln cap="flat" cmpd="sng" w="1270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777240" y="365760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77240" y="3657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325880" y="363016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Outliers (criterio IQR)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325880" y="3995928"/>
            <a:ext cx="4343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Se detectaron en windspeed y cnt, pero se decidió mantenerlos: son observaciones reales del sistema (alta demanda, viento fuerte), no errores.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263640" y="3429000"/>
            <a:ext cx="5349240" cy="1783080"/>
          </a:xfrm>
          <a:prstGeom prst="roundRect">
            <a:avLst>
              <a:gd fmla="val 3077" name="adj"/>
            </a:avLst>
          </a:prstGeom>
          <a:solidFill>
            <a:srgbClr val="F4F8FA"/>
          </a:solidFill>
          <a:ln cap="flat" cmpd="sng" w="19050">
            <a:solidFill>
              <a:srgbClr val="C155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492240" y="3657600"/>
            <a:ext cx="384048" cy="384048"/>
          </a:xfrm>
          <a:prstGeom prst="ellipse">
            <a:avLst/>
          </a:prstGeom>
          <a:solidFill>
            <a:srgbClr val="C155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492240" y="3657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040880" y="363016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Data leakage evitado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040880" y="3995928"/>
            <a:ext cx="4343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casual + registered = cnt exactamente → se excluyeron. Igual que instant (ID) y dteday (redundante con yr/mnth/hr).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TP1 — Regresión y evaluación de modelos · Bike Sharing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 · LIMPIEZA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Cómo se ve la variable objetivo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dist_cnt.png"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17320"/>
            <a:ext cx="5486400" cy="3502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harts/outliers_season.png"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417320"/>
            <a:ext cx="5486400" cy="35021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457200" y="50292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cnt está muy sesgada a la derecha (media 189 &gt; mediana 142): muchas horas de baja demanda y pocas de demanda muy alta.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172200" y="50292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Los outliers (círculos) se repiten en las 4 estaciones y son consistentes con eventos reales de alta demanda → se mantienen.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TP1 — Regresión y evaluación de modelos · Bike Sharing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 · LIMPIEZA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Por qué hr se trata como categórica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hourly_curve.png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694944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7680960" y="15544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Dos picos, no una tendencia lineal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680960" y="2011680"/>
            <a:ext cx="40233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Pico mañana (~8hs): </a:t>
            </a:r>
            <a:r>
              <a:rPr b="0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359 bicis/hora en promedio — entrada laboral.</a:t>
            </a:r>
            <a:br>
              <a:rPr b="0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Pico tarde (~17-18hs): </a:t>
            </a:r>
            <a:r>
              <a:rPr b="0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461 bicis/hora — salida laboral, el máximo del día.</a:t>
            </a:r>
            <a:br>
              <a:rPr b="0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Valle de madrugada (~4hs): </a:t>
            </a:r>
            <a:r>
              <a:rPr b="0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prácticamente sin demanda.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680960" y="4114800"/>
            <a:ext cx="4023360" cy="1600200"/>
          </a:xfrm>
          <a:prstGeom prst="roundRect">
            <a:avLst>
              <a:gd fmla="val 3429" name="adj"/>
            </a:avLst>
          </a:prstGeom>
          <a:solidFill>
            <a:srgbClr val="F4F8FA"/>
          </a:solidFill>
          <a:ln cap="flat" cmpd="sng" w="152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909560" y="4279392"/>
            <a:ext cx="3566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Un coeficiente lineal único para "hora" no puede capturar dos picos. One-Hot Encoding le da a cada hora un efecto propio.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TP1 — Regresión y evaluación de modelos · Bike Sharing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02 · REGRESIÓN LINEAL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8640" y="6858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Separación de datos y validación cruzada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Train / Test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48640" y="1965960"/>
            <a:ext cx="5303520" cy="685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791456" y="1965960"/>
            <a:ext cx="1060704" cy="685800"/>
          </a:xfrm>
          <a:prstGeom prst="rect">
            <a:avLst/>
          </a:prstGeom>
          <a:solidFill>
            <a:srgbClr val="1C729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548640" y="1965960"/>
            <a:ext cx="42428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80% TRAIN — 13.903 filas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791456" y="1965960"/>
            <a:ext cx="10607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3.476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48640" y="278892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random_state=42 · el test queda reservado hasta el final</a:t>
            </a:r>
            <a:r>
              <a:rPr i="1" lang="en-US" sz="1150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1" lang="en-US" sz="11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no participa en limpieza, k-fold, ni selección de hiperparámetros.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35661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K-Fold Cross-Validation (k=5) — sólo sobre train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8640" y="3931920"/>
            <a:ext cx="1005840" cy="329184"/>
          </a:xfrm>
          <a:prstGeom prst="rect">
            <a:avLst/>
          </a:prstGeom>
          <a:solidFill>
            <a:srgbClr val="5FB49C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609344" y="3931920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2670048" y="3931920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730752" y="3931920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791456" y="3931920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5989320" y="3931920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fold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48640" y="4315968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609344" y="4315968"/>
            <a:ext cx="1005840" cy="329184"/>
          </a:xfrm>
          <a:prstGeom prst="rect">
            <a:avLst/>
          </a:prstGeom>
          <a:solidFill>
            <a:srgbClr val="5FB49C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2670048" y="4315968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730752" y="4315968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4791456" y="4315968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989320" y="4315968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fold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48640" y="4700016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609344" y="4700016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2670048" y="4700016"/>
            <a:ext cx="1005840" cy="329184"/>
          </a:xfrm>
          <a:prstGeom prst="rect">
            <a:avLst/>
          </a:prstGeom>
          <a:solidFill>
            <a:srgbClr val="5FB49C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3730752" y="4700016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791456" y="4700016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989320" y="4700016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fold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48640" y="5084064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1609344" y="5084064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2670048" y="5084064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730752" y="5084064"/>
            <a:ext cx="1005840" cy="329184"/>
          </a:xfrm>
          <a:prstGeom prst="rect">
            <a:avLst/>
          </a:prstGeom>
          <a:solidFill>
            <a:srgbClr val="5FB49C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791456" y="5084064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989320" y="5084064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fold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48640" y="5468112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1609344" y="5468112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2670048" y="5468112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730752" y="5468112"/>
            <a:ext cx="1005840" cy="329184"/>
          </a:xfrm>
          <a:prstGeom prst="rect">
            <a:avLst/>
          </a:prstGeom>
          <a:solidFill>
            <a:srgbClr val="F4F8FA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791456" y="5468112"/>
            <a:ext cx="1005840" cy="329184"/>
          </a:xfrm>
          <a:prstGeom prst="rect">
            <a:avLst/>
          </a:prstGeom>
          <a:solidFill>
            <a:srgbClr val="5FB49C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989320" y="5468112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fold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" y="590702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B49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FB49C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n-US" sz="10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validación   </a:t>
            </a:r>
            <a:r>
              <a:rPr b="1" i="0" lang="en-US" sz="1050" u="none" cap="none" strike="noStrike">
                <a:solidFill>
                  <a:srgbClr val="D8E4EA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n-US" sz="105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entrenamiento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492240" y="1508760"/>
            <a:ext cx="5166360" cy="1965960"/>
          </a:xfrm>
          <a:prstGeom prst="roundRect">
            <a:avLst>
              <a:gd fmla="val 2791" name="adj"/>
            </a:avLst>
          </a:prstGeom>
          <a:solidFill>
            <a:srgbClr val="F4F8FA"/>
          </a:solidFill>
          <a:ln cap="flat" cmpd="sng" w="1270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720840" y="1664208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RMSE — diagnóstico bias / variance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720840" y="2057400"/>
            <a:ext cx="4709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155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1553A"/>
                </a:solidFill>
                <a:latin typeface="Calibri"/>
                <a:ea typeface="Calibri"/>
                <a:cs typeface="Calibri"/>
                <a:sym typeface="Calibri"/>
              </a:rPr>
              <a:t>Train ≈ Val, ambos altos → </a:t>
            </a:r>
            <a:r>
              <a:rPr b="0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underfitting</a:t>
            </a:r>
            <a:br>
              <a:rPr b="0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C1553A"/>
                </a:solidFill>
                <a:latin typeface="Calibri"/>
                <a:ea typeface="Calibri"/>
                <a:cs typeface="Calibri"/>
                <a:sym typeface="Calibri"/>
              </a:rPr>
              <a:t>Train bajo, Val alto → </a:t>
            </a:r>
            <a:r>
              <a:rPr b="0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br>
              <a:rPr b="0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5FB49C"/>
                </a:solidFill>
                <a:latin typeface="Calibri"/>
                <a:ea typeface="Calibri"/>
                <a:cs typeface="Calibri"/>
                <a:sym typeface="Calibri"/>
              </a:rPr>
              <a:t>Train ≈ Val, ambos bajos → </a:t>
            </a:r>
            <a:r>
              <a:rPr b="0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generaliza bien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6"/>
          <p:cNvCxnSpPr/>
          <p:nvPr/>
        </p:nvCxnSpPr>
        <p:spPr>
          <a:xfrm>
            <a:off x="6720840" y="3063240"/>
            <a:ext cx="4709160" cy="0"/>
          </a:xfrm>
          <a:prstGeom prst="straightConnector1">
            <a:avLst/>
          </a:prstGeom>
          <a:noFill/>
          <a:ln cap="flat" cmpd="sng" w="1270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6"/>
          <p:cNvSpPr/>
          <p:nvPr/>
        </p:nvSpPr>
        <p:spPr>
          <a:xfrm>
            <a:off x="6720840" y="310896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Regresión lineal (base): </a:t>
            </a:r>
            <a:r>
              <a:rPr b="0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RMSE train 101.86 / val 102.39 — valores parecidos pero altos </a:t>
            </a:r>
            <a:r>
              <a:rPr b="1" i="0" lang="en-US" sz="1150" u="none" cap="none" strike="noStrike">
                <a:solidFill>
                  <a:srgbClr val="C1553A"/>
                </a:solidFill>
                <a:latin typeface="Calibri"/>
                <a:ea typeface="Calibri"/>
                <a:cs typeface="Calibri"/>
                <a:sym typeface="Calibri"/>
              </a:rPr>
              <a:t>→ underfitting.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492240" y="3657600"/>
            <a:ext cx="5166360" cy="2651760"/>
          </a:xfrm>
          <a:prstGeom prst="roundRect">
            <a:avLst>
              <a:gd fmla="val 2069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6766560" y="388620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Esto motiva pasar a un modelo más flexible: regresión polinómica.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766560" y="4526280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B49C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5FB49C"/>
                </a:solidFill>
                <a:latin typeface="Cambria"/>
                <a:ea typeface="Cambria"/>
                <a:cs typeface="Cambria"/>
                <a:sym typeface="Cambria"/>
              </a:rPr>
              <a:t>102.39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766560" y="525780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RMSE de validación con regresión lineal simple — el punto de partida a superar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TP1 — Regresión y evaluación de modelos · Bike Sharing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03-04 · POLINÓMICA Y EVALUACIÓN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Comparación de modelos (RMSE de validación)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7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{9EE70FB7-F6A3-4361-98B8-C665A8BC38D7}</a:tableStyleId>
              </a:tblPr>
              <a:tblGrid>
                <a:gridCol w="1600200"/>
                <a:gridCol w="685800"/>
                <a:gridCol w="822950"/>
                <a:gridCol w="1143000"/>
                <a:gridCol w="1143000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λ (</a:t>
                      </a:r>
                      <a:r>
                        <a:rPr b="1" lang="en-US" sz="11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lambd</a:t>
                      </a: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 train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 val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Regresión lineal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101.86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102.39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Polinómica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100.64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101.26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Polinómica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98.58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99.35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Polinómica + Lasso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104.43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104.83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Polinómica + Lasso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153.96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7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154.05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7"/>
          <p:cNvSpPr/>
          <p:nvPr/>
        </p:nvSpPr>
        <p:spPr>
          <a:xfrm>
            <a:off x="548640" y="3977640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★ Mejor RMSE de validación: Polinómica grado 3, sin regularizar. Gap train/val mínimo (~0.77) → mejora real, no memorización.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7"/>
          <p:cNvGraphicFramePr/>
          <p:nvPr/>
        </p:nvGraphicFramePr>
        <p:xfrm>
          <a:off x="6172200" y="1371600"/>
          <a:ext cx="5486400" cy="44805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92" name="Google Shape;192;p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TP1 — Regresión y evaluación de modelos · Bike Sharing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05 · COMPARACIÓN DE MODELOS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Respondiendo la consigna 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48640" y="1463040"/>
            <a:ext cx="11109960" cy="1051560"/>
          </a:xfrm>
          <a:prstGeom prst="roundRect">
            <a:avLst>
              <a:gd fmla="val 5217" name="adj"/>
            </a:avLst>
          </a:prstGeom>
          <a:solidFill>
            <a:srgbClr val="F4F8FA"/>
          </a:solidFill>
          <a:ln cap="flat" cmpd="sng" w="1270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822960" y="15544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¿Qué modelo obtuvo menor error?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22960" y="187452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7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Regresión polinómica de grado 3</a:t>
            </a:r>
            <a:r>
              <a:rPr lang="en-US" sz="1200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sin regularizar: RMSE de validación = 99.35 (</a:t>
            </a:r>
            <a:r>
              <a:rPr lang="en-US" sz="1200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 en contraste de</a:t>
            </a:r>
            <a:r>
              <a:rPr b="0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 102.39 lineal y 101.26 grado 2).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48640" y="2697480"/>
            <a:ext cx="11109960" cy="1051560"/>
          </a:xfrm>
          <a:prstGeom prst="roundRect">
            <a:avLst>
              <a:gd fmla="val 5217" name="adj"/>
            </a:avLst>
          </a:prstGeom>
          <a:solidFill>
            <a:srgbClr val="F4F8FA"/>
          </a:solidFill>
          <a:ln cap="flat" cmpd="sng" w="12700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822960" y="27889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¿Cuál elegirían para producción?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822960" y="310896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74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También g</a:t>
            </a:r>
            <a:r>
              <a:rPr b="0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rado 3 sin regularizar. Mejora real (no memoriza el train, gap ~0.77) y Lasso solo agregó sesgo</a:t>
            </a:r>
            <a:r>
              <a:rPr lang="en-US" sz="1200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no había overfitting que corregir).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48640" y="4023360"/>
            <a:ext cx="11109960" cy="1783080"/>
          </a:xfrm>
          <a:prstGeom prst="roundRect">
            <a:avLst>
              <a:gd fmla="val 307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822960" y="4187952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B49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B49C"/>
                </a:solidFill>
                <a:latin typeface="Calibri"/>
                <a:ea typeface="Calibri"/>
                <a:cs typeface="Calibri"/>
                <a:sym typeface="Calibri"/>
              </a:rPr>
              <a:t>¿Qué RMSE esperan en producción?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822960" y="4526280"/>
            <a:ext cx="6949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3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3EC"/>
                </a:solidFill>
                <a:latin typeface="Calibri"/>
                <a:ea typeface="Calibri"/>
                <a:cs typeface="Calibri"/>
                <a:sym typeface="Calibri"/>
              </a:rPr>
              <a:t>Se evaluó el modelo elegido (grado 3, sin regularizar) reentrenando con TODO X_train, una única vez, sobre X_test</a:t>
            </a:r>
            <a:r>
              <a:rPr lang="en-US" sz="1200">
                <a:solidFill>
                  <a:srgbClr val="D6E3E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8001000" y="4187952"/>
            <a:ext cx="3429000" cy="1371600"/>
          </a:xfrm>
          <a:prstGeom prst="roundRect">
            <a:avLst>
              <a:gd fmla="val 5333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8001000" y="425196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97.58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8001000" y="489204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0E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3F0EA"/>
                </a:solidFill>
                <a:latin typeface="Calibri"/>
                <a:ea typeface="Calibri"/>
                <a:cs typeface="Calibri"/>
                <a:sym typeface="Calibri"/>
              </a:rPr>
              <a:t>RMSE final sobre test (bicis/hora)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TP1 — Regresión y evaluación de modelos · Bike Sharing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16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617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-1280160" y="4206240"/>
            <a:ext cx="4114800" cy="41148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9966960" y="-1463040"/>
            <a:ext cx="3291840" cy="3291840"/>
          </a:xfrm>
          <a:prstGeom prst="ellipse">
            <a:avLst/>
          </a:prstGeom>
          <a:solidFill>
            <a:srgbClr val="1C7293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B49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B49C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22960" y="1783080"/>
            <a:ext cx="10241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 modelo de grado 3 presenta el mejor desempeño en validación.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822960" y="338328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400"/>
              <a:buFont typeface="Calibri"/>
              <a:buNone/>
            </a:pPr>
            <a:r>
              <a:rPr i="1" lang="en-US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El RMSE de test (97.58) fue consistente con la estimación del k-fold (99.35), lo que respalda la elección del modelo y su capacidad de generalización.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9"/>
          <p:cNvCxnSpPr/>
          <p:nvPr/>
        </p:nvCxnSpPr>
        <p:spPr>
          <a:xfrm>
            <a:off x="822960" y="466344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9"/>
          <p:cNvSpPr/>
          <p:nvPr/>
        </p:nvSpPr>
        <p:spPr>
          <a:xfrm>
            <a:off x="822960" y="4846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Muchas gracias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9BC4"/>
                </a:solidFill>
                <a:latin typeface="Calibri"/>
                <a:ea typeface="Calibri"/>
                <a:cs typeface="Calibri"/>
                <a:sym typeface="Calibri"/>
              </a:rPr>
              <a:t>TP1 — Regresión y evaluación de modelos · Bike Sharing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9BC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2026-08-25T15:37:47Z</dcterms:created>
  <dc:creator>PptxGenJS</dc:creator>
</cp:coreProperties>
</file>